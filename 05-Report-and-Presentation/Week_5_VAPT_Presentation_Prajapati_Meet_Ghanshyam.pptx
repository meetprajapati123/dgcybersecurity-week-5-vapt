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1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607040" cy="4572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64AA"/>
                </a:solidFill>
                <a:latin typeface="Aptos"/>
              </a:defRPr>
            </a:pPr>
            <a:r>
              <a:t>DG INTERNS HUB  •  CYBER SECURITY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10058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4243A"/>
                </a:solidFill>
                <a:latin typeface="Aptos Display"/>
              </a:defRPr>
            </a:pPr>
            <a:r>
              <a:t>WEEK 5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424160" cy="685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2364AA"/>
                </a:solidFill>
                <a:latin typeface="Aptos"/>
              </a:defRPr>
            </a:pPr>
            <a:r>
              <a:t>Vulnerability Assessment &amp; Penetration Testing (VAPT)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03320"/>
            <a:ext cx="10332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77639"/>
            <a:ext cx="9601200" cy="8686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43247"/>
                </a:solidFill>
                <a:latin typeface="Aptos"/>
              </a:defRPr>
            </a:pPr>
            <a:r>
              <a:t>Submitted by: Prajapati Meet Ghanshyam</a:t>
            </a:r>
          </a:p>
          <a:p>
            <a:pPr>
              <a:spcAft>
                <a:spcPts val="600"/>
              </a:spcAft>
              <a:defRPr sz="1500" b="0">
                <a:solidFill>
                  <a:srgbClr val="243247"/>
                </a:solidFill>
                <a:latin typeface="Aptos"/>
              </a:defRPr>
            </a:pPr>
            <a:r>
              <a:t>Date: 21 October 2026</a:t>
            </a:r>
          </a:p>
          <a:p>
            <a:pPr>
              <a:spcAft>
                <a:spcPts val="600"/>
              </a:spcAft>
              <a:defRPr sz="1500" b="0">
                <a:solidFill>
                  <a:srgbClr val="243247"/>
                </a:solidFill>
                <a:latin typeface="Aptos"/>
              </a:defRPr>
            </a:pPr>
            <a:r>
              <a:t>Tools: Nmap • Nikto • Burp Suite Community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C6B7A"/>
                </a:solidFill>
                <a:latin typeface="Aptos"/>
              </a:defRPr>
            </a:pPr>
            <a:r>
              <a:t>Authorized training-target testing • Practical evidence and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6510528"/>
            <a:ext cx="11521440" cy="13716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B7A"/>
                </a:solidFill>
              </a:defRPr>
            </a:pPr>
            <a:r>
              <a:t>Prajapati Meet Ghanshyam  |  DG Interns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5624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097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1A6B7"/>
                </a:solidFill>
              </a:defRPr>
            </a:pPr>
            <a:r>
              <a:t>WEEK 5 •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502920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212080" cy="12801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43247"/>
                </a:solidFill>
                <a:latin typeface="Aptos"/>
              </a:defRPr>
            </a:pPr>
            <a:r>
              <a:t>Learn a basic VAPT workflow: scan a training host, attempt web checks, and inspect HTTP requests through a local proxy.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029200" cy="3657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Tools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80"/>
            <a:ext cx="5212080" cy="1463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Nmap — host/port/service reconnaissance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Nikto — web-server checks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Burp Suite — HTTP request inspection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curl / getent / ping — connectivity troubleshooting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960120"/>
            <a:ext cx="50749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115568"/>
            <a:ext cx="146304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64AA"/>
                </a:solidFill>
                <a:latin typeface="Aptos"/>
              </a:defRPr>
            </a:pPr>
            <a:r>
              <a:t>NMAP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097280"/>
            <a:ext cx="310896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3 scan modes executed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50749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532888"/>
            <a:ext cx="146304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57A2B"/>
                </a:solidFill>
                <a:latin typeface="Aptos"/>
              </a:defRPr>
            </a:pPr>
            <a:r>
              <a:t>NIKTO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14600"/>
            <a:ext cx="310896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Connection to TCP/80 failed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94760"/>
            <a:ext cx="50749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50208"/>
            <a:ext cx="146304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1A6B7"/>
                </a:solidFill>
                <a:latin typeface="Aptos"/>
              </a:defRPr>
            </a:pPr>
            <a:r>
              <a:t>BURP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31920"/>
            <a:ext cx="3108960" cy="6400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Listener active; GET history visible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6510528"/>
            <a:ext cx="11521440" cy="13716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B7A"/>
                </a:solidFill>
              </a:defRPr>
            </a:pPr>
            <a:r>
              <a:t>Prajapati Meet Ghanshyam  |  DG Interns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5624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Nmap Reconnaissance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097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1A6B7"/>
                </a:solidFill>
              </a:defRPr>
            </a:pPr>
            <a:r>
              <a:t>WEEK 5 •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493776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364AA"/>
                </a:solidFill>
                <a:latin typeface="Aptos"/>
              </a:defRPr>
            </a:pPr>
            <a:r>
              <a:t>Commands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120640" cy="1371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Consolas"/>
              </a:defRPr>
            </a:pPr>
            <a:r>
              <a:t>sudo nmap -sS testphp.vulnweb.com</a:t>
            </a:r>
          </a:p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Consolas"/>
              </a:defRPr>
            </a:pPr>
            <a:r>
              <a:t>sudo nmap -sV testphp.vulnweb.com</a:t>
            </a:r>
          </a:p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Consolas"/>
              </a:defRPr>
            </a:pPr>
            <a:r>
              <a:t>sudo nmap -A testphp.vulnweb.com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4937760" cy="3657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2364AA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5120640" cy="1828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Host reported up at 44.228.249.3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All 1,000 default TCP ports filtered/no-response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No open port or service version confirmed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OS guesses from -A were explicitly unreliable</a:t>
            </a:r>
          </a:p>
        </p:txBody>
      </p:sp>
      <p:pic>
        <p:nvPicPr>
          <p:cNvPr id="8" name="Picture 7" descr="image(20261021-10212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936155"/>
            <a:ext cx="5806439" cy="2059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3090672"/>
            <a:ext cx="5806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C6B7A"/>
                </a:solidFill>
              </a:defRPr>
            </a:pPr>
            <a:r>
              <a:t>SYN scan evidence</a:t>
            </a:r>
          </a:p>
        </p:txBody>
      </p:sp>
      <p:pic>
        <p:nvPicPr>
          <p:cNvPr id="10" name="Picture 9" descr="image(20261021-10261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867618"/>
            <a:ext cx="5806439" cy="15459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5879592"/>
            <a:ext cx="5806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C6B7A"/>
                </a:solidFill>
              </a:defRPr>
            </a:pPr>
            <a:r>
              <a:t>Advanced scan: no exact OS match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510528"/>
            <a:ext cx="11521440" cy="13716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B7A"/>
                </a:solidFill>
              </a:defRPr>
            </a:pPr>
            <a:r>
              <a:t>Prajapati Meet Ghanshyam  |  DG Interns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5624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Nikto Scan &amp;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097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1A6B7"/>
                </a:solidFill>
              </a:defRPr>
            </a:pPr>
            <a:r>
              <a:t>WEEK 5 •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475488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Nikto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937760" cy="12344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43247"/>
                </a:solidFill>
                <a:latin typeface="Aptos"/>
              </a:defRPr>
            </a:pPr>
            <a:r>
              <a:t>Nikto v2.6.0 could not connect to testphp.vulnweb.com:80. No usable vulnerability findings were produced.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475488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4937760" cy="1554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• NAT gateway 10.0.2.2 reachable</a:t>
            </a:r>
          </a:p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• 1.1.1.1 ping: 0% packet loss</a:t>
            </a:r>
          </a:p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• Target DNS resolved to 44.228.249.3 in some checks</a:t>
            </a:r>
          </a:p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• HTTP/HTTPS connection timed out</a:t>
            </a:r>
          </a:p>
        </p:txBody>
      </p:sp>
      <p:pic>
        <p:nvPicPr>
          <p:cNvPr id="8" name="Picture 7" descr="image(20261021-10320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80526"/>
            <a:ext cx="5989320" cy="7422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0" y="2880360"/>
            <a:ext cx="5989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C6B7A"/>
                </a:solidFill>
              </a:defRPr>
            </a:pPr>
            <a:r>
              <a:t>Nikto connection failure</a:t>
            </a:r>
          </a:p>
        </p:txBody>
      </p:sp>
      <p:pic>
        <p:nvPicPr>
          <p:cNvPr id="10" name="Picture 9" descr="image(20261021-11230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918" y="3337560"/>
            <a:ext cx="4265482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0" y="5440680"/>
            <a:ext cx="5989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C6B7A"/>
                </a:solidFill>
              </a:defRPr>
            </a:pPr>
            <a:r>
              <a:t>Gateway and IP reachability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510528"/>
            <a:ext cx="11521440" cy="13716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B7A"/>
                </a:solidFill>
              </a:defRPr>
            </a:pPr>
            <a:r>
              <a:t>Prajapati Meet Ghanshyam  |  DG Interns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5624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Burp Suite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097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1A6B7"/>
                </a:solidFill>
              </a:defRPr>
            </a:pPr>
            <a:r>
              <a:t>WEEK 5 •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4572000" cy="3657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846320" cy="1463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Burp Suite Community Edition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Temporary project in memory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Proxy listener: 127.0.0.1:8080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Built-in browser used for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4572000" cy="3657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Observed 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4846320" cy="1463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The browser showed a Burp connection error for the remote training target. This is a reachability limitation, not a confirmed vulnerability.</a:t>
            </a:r>
          </a:p>
        </p:txBody>
      </p:sp>
      <p:pic>
        <p:nvPicPr>
          <p:cNvPr id="8" name="Picture 7" descr="image(20261021-10440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914" y="868679"/>
            <a:ext cx="420777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23560" y="3337560"/>
            <a:ext cx="6126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C6B7A"/>
                </a:solidFill>
              </a:defRPr>
            </a:pPr>
            <a:r>
              <a:t>Proxy listener active on 127.0.0.1:8080</a:t>
            </a:r>
          </a:p>
        </p:txBody>
      </p:sp>
      <p:pic>
        <p:nvPicPr>
          <p:cNvPr id="10" name="Picture 9" descr="image(20261021-10484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095" y="3657600"/>
            <a:ext cx="4599408" cy="17373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23560" y="5440680"/>
            <a:ext cx="6126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C6B7A"/>
                </a:solidFill>
              </a:defRPr>
            </a:pPr>
            <a:r>
              <a:t>Target connection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510528"/>
            <a:ext cx="11521440" cy="13716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B7A"/>
                </a:solidFill>
              </a:defRPr>
            </a:pPr>
            <a:r>
              <a:t>Prajapati Meet Ghanshyam  |  DG Interns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5624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Burp HTTP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097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1A6B7"/>
                </a:solidFill>
              </a:defRPr>
            </a:pPr>
            <a:r>
              <a:t>WEEK 5 •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429768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What was captured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4206240" cy="18288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Two GET / entries visible in HTTP history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Selected request showed HTTP/1.1 and Host header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Browser User-Agent and Accept headers visible</a:t>
            </a:r>
          </a:p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• No successful target response confirmed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420624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06240"/>
            <a:ext cx="4206240" cy="11430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A request in history proves the proxy saw a request; it does not prove the remote server returned a response.</a:t>
            </a:r>
          </a:p>
        </p:txBody>
      </p:sp>
      <p:pic>
        <p:nvPicPr>
          <p:cNvPr id="8" name="Picture 7" descr="image(20261021-10550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67861"/>
            <a:ext cx="7223759" cy="42765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5943600"/>
            <a:ext cx="722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C6B7A"/>
                </a:solidFill>
              </a:defRPr>
            </a:pPr>
            <a:r>
              <a:t>Actual Burp HTTP history and request headers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510528"/>
            <a:ext cx="11521440" cy="13716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B7A"/>
                </a:solidFill>
              </a:defRPr>
            </a:pPr>
            <a:r>
              <a:t>Prajapati Meet Ghanshyam  |  DG Interns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5624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4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Findings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09728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1A6B7"/>
                </a:solidFill>
              </a:defRPr>
            </a:pPr>
            <a:r>
              <a:t>WEEK 5 • VAPT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530352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Evidence-based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62356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39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364AA"/>
                </a:solidFill>
                <a:latin typeface="Aptos"/>
              </a:defRPr>
            </a:pPr>
            <a:r>
              <a:t>F-01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17320"/>
            <a:ext cx="379476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43247"/>
                </a:solidFill>
                <a:latin typeface="Aptos"/>
              </a:defRPr>
            </a:pPr>
            <a:r>
              <a:t>Nmap: 1,000 TCP ports filtered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472184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E57A2B"/>
                </a:solidFill>
                <a:latin typeface="Aptos"/>
              </a:defRPr>
            </a:pPr>
            <a:r>
              <a:t>Informational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562356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364AA"/>
                </a:solidFill>
                <a:latin typeface="Aptos"/>
              </a:defRPr>
            </a:pPr>
            <a:r>
              <a:t>F-02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86000"/>
            <a:ext cx="379476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43247"/>
                </a:solidFill>
                <a:latin typeface="Aptos"/>
              </a:defRPr>
            </a:pPr>
            <a:r>
              <a:t>OS detection: no exact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340864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E57A2B"/>
                </a:solidFill>
                <a:latin typeface="Aptos"/>
              </a:defRPr>
            </a:pPr>
            <a:r>
              <a:t>Informational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63239"/>
            <a:ext cx="562356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399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364AA"/>
                </a:solidFill>
                <a:latin typeface="Aptos"/>
              </a:defRPr>
            </a:pPr>
            <a:r>
              <a:t>F-03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154679"/>
            <a:ext cx="379476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43247"/>
                </a:solidFill>
                <a:latin typeface="Aptos"/>
              </a:defRPr>
            </a:pPr>
            <a:r>
              <a:t>Nikto: target TCP/80 unreachable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209544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E57A2B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562356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2364AA"/>
                </a:solidFill>
                <a:latin typeface="Aptos"/>
              </a:defRPr>
            </a:pPr>
            <a:r>
              <a:t>F-04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023359"/>
            <a:ext cx="379476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243247"/>
                </a:solidFill>
                <a:latin typeface="Aptos"/>
              </a:defRPr>
            </a:pPr>
            <a:r>
              <a:t>Burp: proxy works; target response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078224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E57A2B"/>
                </a:solidFill>
                <a:latin typeface="Aptos"/>
              </a:defRPr>
            </a:pPr>
            <a:r>
              <a:t>Partial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777240"/>
            <a:ext cx="493776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280160"/>
            <a:ext cx="4937760" cy="1463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43247"/>
                </a:solidFill>
                <a:latin typeface="Aptos"/>
              </a:defRPr>
            </a:pPr>
            <a:r>
              <a:t>The workflow demonstrated Nmap scanning, Burp proxy setup, HTTP request inspection, and connectivity troubleshooting. No exploitable vulnerabilities were confirmed.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71800"/>
            <a:ext cx="493776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364AA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74720"/>
            <a:ext cx="4937760" cy="15087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• Retry when the target is reachable</a:t>
            </a:r>
          </a:p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• Re-run Nikto and save actual output</a:t>
            </a:r>
          </a:p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• Capture a successful Burp response</a:t>
            </a:r>
          </a:p>
          <a:p>
            <a:pPr>
              <a:spcAft>
                <a:spcPts val="600"/>
              </a:spcAft>
              <a:defRPr sz="1300" b="0">
                <a:solidFill>
                  <a:srgbClr val="243247"/>
                </a:solidFill>
                <a:latin typeface="Aptos"/>
              </a:defRPr>
            </a:pPr>
            <a:r>
              <a:t>• Keep scan text files with screenshot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303520"/>
            <a:ext cx="4937760" cy="5486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C6B7A"/>
                </a:solidFill>
                <a:latin typeface="Aptos"/>
              </a:defRPr>
            </a:pPr>
            <a:r>
              <a:t>Only verified results are reported; connection failures are not vulnerabilities.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510528"/>
            <a:ext cx="11521440" cy="13716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B7A"/>
                </a:solidFill>
              </a:defRPr>
            </a:pPr>
            <a:r>
              <a:t>Prajapati Meet Ghanshyam  |  DG Interns 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5624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